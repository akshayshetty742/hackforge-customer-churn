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Barlow"/>
      <p:regular r:id="rId17"/>
    </p:embeddedFont>
    <p:embeddedFont>
      <p:font typeface="Barlow"/>
      <p:regular r:id="rId18"/>
    </p:embeddedFont>
    <p:embeddedFont>
      <p:font typeface="Barlow"/>
      <p:regular r:id="rId19"/>
    </p:embeddedFont>
    <p:embeddedFont>
      <p:font typeface="Barlow"/>
      <p:regular r:id="rId20"/>
    </p:embeddedFont>
    <p:embeddedFont>
      <p:font typeface="Montserrat"/>
      <p:regular r:id="rId21"/>
    </p:embeddedFont>
    <p:embeddedFont>
      <p:font typeface="Montserrat"/>
      <p:regular r:id="rId22"/>
    </p:embeddedFont>
    <p:embeddedFont>
      <p:font typeface="Montserrat"/>
      <p:regular r:id="rId23"/>
    </p:embeddedFont>
    <p:embeddedFont>
      <p:font typeface="Montserrat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2" Type="http://schemas.openxmlformats.org/officeDocument/2006/relationships/image" Target="../media/image-1004-2.png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2" Type="http://schemas.openxmlformats.org/officeDocument/2006/relationships/image" Target="../media/image-1005-2.png"/><Relationship Id="rId4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2" Type="http://schemas.openxmlformats.org/officeDocument/2006/relationships/image" Target="../media/image-1006-2.png"/><Relationship Id="rId4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2" Type="http://schemas.openxmlformats.org/officeDocument/2006/relationships/image" Target="../media/image-1007-2.png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2" Type="http://schemas.openxmlformats.org/officeDocument/2006/relationships/image" Target="../media/image-1008-2.png"/><Relationship Id="rId4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2" Type="http://schemas.openxmlformats.org/officeDocument/2006/relationships/image" Target="../media/image-1009-2.png"/><Relationship Id="rId4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2" Type="http://schemas.openxmlformats.org/officeDocument/2006/relationships/image" Target="../media/image-1010-2.png"/><Relationship Id="rId4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2" Type="http://schemas.openxmlformats.org/officeDocument/2006/relationships/image" Target="../media/image-1011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svg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9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771061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Advanced Customer Churn Prediction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521398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Optimizing Retention with XGBoost &amp; Class Weighting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5111829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Presenter: Ashwin C H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94573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Business Problem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440549"/>
            <a:ext cx="4226838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504" y="3664744"/>
            <a:ext cx="649962" cy="649962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61217" y="3843457"/>
            <a:ext cx="292418" cy="29241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82504" y="45312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Retail Reality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982504" y="5017413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Acquiring new customers takes 5x more budget than retention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5201722" y="3440549"/>
            <a:ext cx="4226838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5916" y="3664744"/>
            <a:ext cx="649962" cy="64996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04629" y="3843457"/>
            <a:ext cx="292418" cy="29241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425916" y="45312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Data Challenge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5425916" y="5017413"/>
            <a:ext cx="37784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Real-world dataset: 73% Stay vs 27% Leave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9645134" y="3440549"/>
            <a:ext cx="4226957" cy="2494478"/>
          </a:xfrm>
          <a:prstGeom prst="roundRect">
            <a:avLst>
              <a:gd name="adj" fmla="val 13029"/>
            </a:avLst>
          </a:prstGeom>
          <a:solidFill>
            <a:srgbClr val="D4E9F7"/>
          </a:solidFill>
          <a:ln w="7620">
            <a:solidFill>
              <a:srgbClr val="BACFDD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9329" y="3664744"/>
            <a:ext cx="649962" cy="649962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48042" y="3843457"/>
            <a:ext cx="292418" cy="292418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9869329" y="4531281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Our Goal</a:t>
            </a: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9869329" y="5017413"/>
            <a:ext cx="377856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at-risk users without majority class bias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55543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Architecture Overview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8096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382447"/>
            <a:ext cx="6292572" cy="1614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Python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Pandas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Scikit-learn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XGBoost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52130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Pipeline Stages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5785842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Ingestion → Preprocessing → Advanced Modeling → Deployment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7139" y="280963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Key Innovation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7139" y="3382447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Moved beyond basic algorithms to tuned XGBoost pipeline with intelligent class weighting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5590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Why XGBoost?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601879"/>
            <a:ext cx="6448544" cy="2171819"/>
          </a:xfrm>
          <a:prstGeom prst="roundRect">
            <a:avLst>
              <a:gd name="adj" fmla="val 6736"/>
            </a:avLst>
          </a:prstGeom>
          <a:solidFill>
            <a:srgbClr val="FFFFFF"/>
          </a:solidFill>
          <a:ln w="30480">
            <a:solidFill>
              <a:srgbClr val="75BAE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27829" y="3601879"/>
            <a:ext cx="121920" cy="2171819"/>
          </a:xfrm>
          <a:prstGeom prst="roundRect">
            <a:avLst>
              <a:gd name="adj" fmla="val 266563"/>
            </a:avLst>
          </a:prstGeom>
          <a:solidFill>
            <a:srgbClr val="75BAE6"/>
          </a:solidFill>
          <a:ln/>
        </p:spPr>
      </p:sp>
      <p:sp>
        <p:nvSpPr>
          <p:cNvPr id="5" name="Text 3"/>
          <p:cNvSpPr/>
          <p:nvPr/>
        </p:nvSpPr>
        <p:spPr>
          <a:xfrm>
            <a:off x="1096804" y="38489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Random Forest Failure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6804" y="4335066"/>
            <a:ext cx="586299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Extreme overfitting on tabular dataset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423428" y="3601879"/>
            <a:ext cx="6448663" cy="2171819"/>
          </a:xfrm>
          <a:prstGeom prst="roundRect">
            <a:avLst>
              <a:gd name="adj" fmla="val 6736"/>
            </a:avLst>
          </a:prstGeom>
          <a:solidFill>
            <a:srgbClr val="FFFFFF"/>
          </a:solidFill>
          <a:ln w="30480">
            <a:solidFill>
              <a:srgbClr val="2589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2948" y="3601879"/>
            <a:ext cx="121920" cy="2171819"/>
          </a:xfrm>
          <a:prstGeom prst="roundRect">
            <a:avLst>
              <a:gd name="adj" fmla="val 266563"/>
            </a:avLst>
          </a:prstGeom>
          <a:solidFill>
            <a:srgbClr val="2589C9"/>
          </a:solidFill>
          <a:ln/>
        </p:spPr>
      </p:sp>
      <p:sp>
        <p:nvSpPr>
          <p:cNvPr id="9" name="Text 7"/>
          <p:cNvSpPr/>
          <p:nvPr/>
        </p:nvSpPr>
        <p:spPr>
          <a:xfrm>
            <a:off x="7761923" y="3848933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XGBoost Advantages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61923" y="4335066"/>
            <a:ext cx="5863114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Superior tabular data performance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Built-in L1/L2 regularization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Prevents noise learning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033349"/>
            <a:ext cx="6401395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Handling Class Imbalance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58309" y="3829288"/>
            <a:ext cx="4226838" cy="2366843"/>
          </a:xfrm>
          <a:prstGeom prst="roundRect">
            <a:avLst>
              <a:gd name="adj" fmla="val 13731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8789" y="3859768"/>
            <a:ext cx="4165878" cy="216575"/>
          </a:xfrm>
          <a:prstGeom prst="roundRect">
            <a:avLst>
              <a:gd name="adj" fmla="val 133172"/>
            </a:avLst>
          </a:prstGeom>
          <a:solidFill>
            <a:srgbClr val="D4E9F7"/>
          </a:solidFill>
          <a:ln/>
        </p:spPr>
      </p:sp>
      <p:sp>
        <p:nvSpPr>
          <p:cNvPr id="5" name="Text 3"/>
          <p:cNvSpPr/>
          <p:nvPr/>
        </p:nvSpPr>
        <p:spPr>
          <a:xfrm>
            <a:off x="1005364" y="4292918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Attempt 1: SMOTE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364" y="4779050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97% training accuracy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364" y="5255657"/>
            <a:ext cx="37327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Created synthetic data → Overfitting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201722" y="3504248"/>
            <a:ext cx="4226838" cy="2691884"/>
          </a:xfrm>
          <a:prstGeom prst="roundRect">
            <a:avLst>
              <a:gd name="adj" fmla="val 12073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32202" y="3534728"/>
            <a:ext cx="4165878" cy="216575"/>
          </a:xfrm>
          <a:prstGeom prst="roundRect">
            <a:avLst>
              <a:gd name="adj" fmla="val 133172"/>
            </a:avLst>
          </a:prstGeom>
          <a:solidFill>
            <a:srgbClr val="D4E9F7"/>
          </a:solidFill>
          <a:ln/>
        </p:spPr>
      </p:sp>
      <p:sp>
        <p:nvSpPr>
          <p:cNvPr id="10" name="Text 8"/>
          <p:cNvSpPr/>
          <p:nvPr/>
        </p:nvSpPr>
        <p:spPr>
          <a:xfrm>
            <a:off x="5448776" y="3967877"/>
            <a:ext cx="3295055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Attempt 2: Downsampling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48776" y="4454009"/>
            <a:ext cx="373272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74% generic accuracy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48776" y="4930616"/>
            <a:ext cx="373272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Removed valid data → Information loss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9645134" y="3179326"/>
            <a:ext cx="4226957" cy="3016806"/>
          </a:xfrm>
          <a:prstGeom prst="roundRect">
            <a:avLst>
              <a:gd name="adj" fmla="val 10773"/>
            </a:avLst>
          </a:prstGeom>
          <a:solidFill>
            <a:srgbClr val="FFFFFF"/>
          </a:solidFill>
          <a:ln w="30480">
            <a:solidFill>
              <a:srgbClr val="BACF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75614" y="3209806"/>
            <a:ext cx="4165997" cy="216575"/>
          </a:xfrm>
          <a:prstGeom prst="roundRect">
            <a:avLst>
              <a:gd name="adj" fmla="val 133172"/>
            </a:avLst>
          </a:prstGeom>
          <a:solidFill>
            <a:srgbClr val="D4E9F7"/>
          </a:solidFill>
          <a:ln/>
        </p:spPr>
      </p:sp>
      <p:sp>
        <p:nvSpPr>
          <p:cNvPr id="15" name="Text 13"/>
          <p:cNvSpPr/>
          <p:nvPr/>
        </p:nvSpPr>
        <p:spPr>
          <a:xfrm>
            <a:off x="9892189" y="364295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Final: Class Weights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892189" y="4129088"/>
            <a:ext cx="3732848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scale_pos_weight: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~2.77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9892189" y="4605695"/>
            <a:ext cx="3732848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Penalize missing churners 2.77× more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7709" y="563880"/>
            <a:ext cx="5656540" cy="6746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300"/>
              </a:lnSpc>
              <a:buNone/>
            </a:pPr>
            <a:r>
              <a:rPr lang="en-US" sz="4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Hyperparameter Tuning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7709" y="3173968"/>
            <a:ext cx="2698313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Method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17709" y="3705225"/>
            <a:ext cx="4293037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GridSearchCV tested 36 unique combinations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17709" y="4537710"/>
            <a:ext cx="2698313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Winning Parameters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17709" y="5068967"/>
            <a:ext cx="4293037" cy="1093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Learning Rate: 0.1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Max Depth: 5</a:t>
            </a:r>
            <a:endParaRPr lang="en-US" sz="160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 Estimators: 100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18666" y="1747957"/>
            <a:ext cx="8401526" cy="46891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18666" y="6655475"/>
            <a:ext cx="2698313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Result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5518666" y="7186732"/>
            <a:ext cx="8401526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Automated search for optimal modeling sweet spot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40681" y="458153"/>
            <a:ext cx="4111943" cy="513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Fighting Overfitting</a:t>
            </a:r>
            <a:endParaRPr lang="en-US" sz="3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0681" y="1197412"/>
            <a:ext cx="11348918" cy="469701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09213" y="2500881"/>
            <a:ext cx="1833928" cy="331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Before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1909213" y="2921447"/>
            <a:ext cx="1833928" cy="432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 97% vs Test 78% ~19% gap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0877566" y="2500881"/>
            <a:ext cx="1833927" cy="3311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After</a:t>
            </a:r>
            <a:endParaRPr lang="en-US" sz="2050" dirty="0"/>
          </a:p>
        </p:txBody>
      </p:sp>
      <p:sp>
        <p:nvSpPr>
          <p:cNvPr id="7" name="Text 4"/>
          <p:cNvSpPr/>
          <p:nvPr/>
        </p:nvSpPr>
        <p:spPr>
          <a:xfrm>
            <a:off x="10877566" y="2899082"/>
            <a:ext cx="1837946" cy="4625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550" b="1" dirty="0">
                <a:solidFill>
                  <a:srgbClr val="384653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Train 92% vs Test 85% ~7% gap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640681" y="6133743"/>
            <a:ext cx="2055971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640681" y="6503313"/>
            <a:ext cx="548378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Train: 97% vs Test: 78%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640681" y="6819662"/>
            <a:ext cx="548378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~19% generalization gap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513320" y="6133743"/>
            <a:ext cx="2055971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The Fix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513320" y="6503313"/>
            <a:ext cx="5483781" cy="469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Limited max tree depth to 5</a:t>
            </a:r>
            <a:endParaRPr lang="en-US" sz="1200" dirty="0"/>
          </a:p>
          <a:p>
            <a:pPr algn="l" marL="342900" indent="-342900">
              <a:lnSpc>
                <a:spcPts val="1650"/>
              </a:lnSpc>
              <a:buSzPct val="100000"/>
              <a:buChar char="•"/>
            </a:pPr>
            <a:r>
              <a:rPr lang="en-US" sz="12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Applied subsampling (0.8)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513320" y="7085409"/>
            <a:ext cx="2055971" cy="2569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Outcome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513320" y="7454979"/>
            <a:ext cx="5483781" cy="2150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i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 reduced to ~7%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475548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Validation Strategy</a:t>
            </a:r>
            <a:endParaRPr lang="en-US" sz="44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309" y="3621524"/>
            <a:ext cx="4371261" cy="8665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74884" y="47046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Stratified K-Fold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974884" y="5190768"/>
            <a:ext cx="393811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3-fold cross validation</a:t>
            </a:r>
            <a:endParaRPr lang="en-US" sz="1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570" y="3621524"/>
            <a:ext cx="4371261" cy="86653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346144" y="47046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Enforced Balance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5346144" y="5190768"/>
            <a:ext cx="393811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Every fold: 27% churners</a:t>
            </a:r>
            <a:endParaRPr lang="en-US" sz="17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0830" y="3621524"/>
            <a:ext cx="4371261" cy="86653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717405" y="470463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Robust Results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9717405" y="5190768"/>
            <a:ext cx="3938111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Prevents lucky splits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283262"/>
            <a:ext cx="5701546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Performance Metrics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537466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76%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1428274" y="452306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Accuracy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58309" y="5009198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Stable, robust performance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219819" y="3537466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76%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889784" y="452306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Churn Recall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219819" y="5009198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of 4 leaving customers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81329" y="3537466"/>
            <a:ext cx="4190762" cy="7149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600"/>
              </a:lnSpc>
              <a:buNone/>
            </a:pPr>
            <a:r>
              <a:rPr lang="en-US" sz="56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53%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10351294" y="452306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384653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Precision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9681329" y="5009198"/>
            <a:ext cx="419076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Acceptable trade-off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58309" y="5599628"/>
            <a:ext cx="131137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Business impact:</a:t>
            </a:r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Retention team can target right users before they leave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567583"/>
            <a:ext cx="652510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Deliverables &amp; Next Steps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8217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Production Ready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394597"/>
            <a:ext cx="6292572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Trained Model (.pkl)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Encoding Rules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Char char="•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Evaluation Report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3821787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b="1" dirty="0">
                <a:solidFill>
                  <a:srgbClr val="2E3C4E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Future Roadmap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4394597"/>
            <a:ext cx="6292572" cy="1191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1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Feature engineering: Tenure → Years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Web API deployment</a:t>
            </a:r>
            <a:endParaRPr lang="en-US" sz="1700" dirty="0"/>
          </a:p>
          <a:p>
            <a:pPr algn="l" marL="342900" indent="-342900">
              <a:lnSpc>
                <a:spcPts val="270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38465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monitoring dashboard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2026-02-14T04:07:22Z</dcterms:created>
  <dcterms:modified xsi:type="dcterms:W3CDTF">2026-02-14T04:07:22Z</dcterms:modified>
</cp:coreProperties>
</file>